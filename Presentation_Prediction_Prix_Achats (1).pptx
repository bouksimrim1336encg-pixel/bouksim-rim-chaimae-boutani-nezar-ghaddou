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6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523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206240"/>
            <a:ext cx="9144000" cy="1828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20040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GESTION DES ACHATS &amp; SOURCING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Prédiction du Prix d'Achat Optimal
</a:t>
            </a:r>
            <a:pPr indent="0" marL="0">
              <a:buNone/>
            </a:pPr>
            <a:r>
              <a:rPr lang="en-US" sz="2200" b="1" dirty="0">
                <a:solidFill>
                  <a:srgbClr val="D6EAE0"/>
                </a:solidFill>
              </a:rPr>
              <a:t>des Matières Premières Industrielles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64008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786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AE0"/>
                </a:solidFill>
              </a:rPr>
              <a:t>Approche Machine Learning — Régression Supervisée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Variable cible : Prix optimal (MAD/unité) selon fournisseur &amp; timing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1874520" cy="685800"/>
          </a:xfrm>
          <a:prstGeom prst="rect">
            <a:avLst/>
          </a:prstGeom>
          <a:solidFill>
            <a:srgbClr val="145236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3310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090"/>
                </a:solidFill>
              </a:rPr>
              <a:t>TYPE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30352" y="35112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Prédiction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(Régression)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3291840"/>
            <a:ext cx="1874520" cy="685800"/>
          </a:xfrm>
          <a:prstGeom prst="rect">
            <a:avLst/>
          </a:prstGeom>
          <a:solidFill>
            <a:srgbClr val="145236"/>
          </a:solidFill>
          <a:ln/>
        </p:spPr>
      </p:sp>
      <p:sp>
        <p:nvSpPr>
          <p:cNvPr id="16" name="Text 14"/>
          <p:cNvSpPr/>
          <p:nvPr/>
        </p:nvSpPr>
        <p:spPr>
          <a:xfrm>
            <a:off x="2587752" y="3310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090"/>
                </a:solidFill>
              </a:rPr>
              <a:t>MÉTHODE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87752" y="35112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XGBoost &amp;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3291840"/>
            <a:ext cx="1874520" cy="685800"/>
          </a:xfrm>
          <a:prstGeom prst="rect">
            <a:avLst/>
          </a:prstGeom>
          <a:solidFill>
            <a:srgbClr val="145236"/>
          </a:solidFill>
          <a:ln/>
        </p:spPr>
      </p:sp>
      <p:sp>
        <p:nvSpPr>
          <p:cNvPr id="19" name="Text 17"/>
          <p:cNvSpPr/>
          <p:nvPr/>
        </p:nvSpPr>
        <p:spPr>
          <a:xfrm>
            <a:off x="4645152" y="3310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090"/>
                </a:solidFill>
              </a:rPr>
              <a:t>DOMAINE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645152" y="35112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Achats &amp;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Supply Chain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" y="4151376"/>
            <a:ext cx="886968" cy="886968"/>
          </a:xfrm>
          <a:prstGeom prst="ellipse">
            <a:avLst/>
          </a:prstGeom>
          <a:solidFill>
            <a:srgbClr val="D6EAE0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206240"/>
            <a:ext cx="777240" cy="777240"/>
          </a:xfrm>
          <a:prstGeom prst="ellipse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320040" y="50017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Chaimae Boutani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865376" y="4151376"/>
            <a:ext cx="886968" cy="886968"/>
          </a:xfrm>
          <a:prstGeom prst="ellipse">
            <a:avLst/>
          </a:prstGeom>
          <a:solidFill>
            <a:srgbClr val="D6EAE0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206240"/>
            <a:ext cx="777240" cy="777240"/>
          </a:xfrm>
          <a:prstGeom prst="ellipse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737360" y="50017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Rim Boukssim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57200" y="41148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6EAE0"/>
                </a:solidFill>
              </a:rPr>
              <a:t>Réalisé par :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2926080" y="4480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Rapport de Projet — Année Académique 2024/2025  |  Filière : Génie Industriel / Management des Achats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Sommaire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" cy="749808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Contexte &amp; Problématique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502920" cy="749808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659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05740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Objectifs du Projet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502920" cy="749808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260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01752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Données &amp; 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86200"/>
            <a:ext cx="502920" cy="749808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8862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97764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Méthodologie — Modèles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005840"/>
            <a:ext cx="502920" cy="749808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109728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Résultats &amp; Performances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96596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965960"/>
            <a:ext cx="502920" cy="749808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9659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05740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Variables Influentes (SHAP)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92608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926080"/>
            <a:ext cx="502920" cy="749808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9260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301752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Recommandations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88620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886200"/>
            <a:ext cx="502920" cy="749808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8862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40680" y="397764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Conclusion &amp; Perspectives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 — Contexte &amp; Problématique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4747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784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CONTEXTE DU MARCHÉ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201168" cy="201168"/>
          </a:xfrm>
          <a:prstGeom prst="ellipse">
            <a:avLst/>
          </a:prstGeom>
          <a:solidFill>
            <a:srgbClr val="1B6B4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</a:rPr>
              <a:t>Volatilité croissante des prix des MP industrielles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176272"/>
            <a:ext cx="201168" cy="201168"/>
          </a:xfrm>
          <a:prstGeom prst="ellipse">
            <a:avLst/>
          </a:prstGeom>
          <a:solidFill>
            <a:srgbClr val="1B6B4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3055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</a:rPr>
              <a:t>Marchés mondialisés — impact sur la compétitivité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889504"/>
            <a:ext cx="201168" cy="201168"/>
          </a:xfrm>
          <a:prstGeom prst="ellipse">
            <a:avLst/>
          </a:prstGeom>
          <a:solidFill>
            <a:srgbClr val="1B6B4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4378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</a:rPr>
              <a:t>Les achats représentent 50-70% du coût de revient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602736"/>
            <a:ext cx="201168" cy="201168"/>
          </a:xfrm>
          <a:prstGeom prst="ellipse">
            <a:avLst/>
          </a:prstGeom>
          <a:solidFill>
            <a:srgbClr val="1B6B4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5701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</a:rPr>
              <a:t>Besoin d'anticipation pour sécuriser la chaîne de valeur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4114800" cy="34747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9784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PROBLÉMATIQUE CENTRALE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146304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1B6B45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5087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Comment prédire le prix d'achat optimal (MAD/unité) selon le fournisseur et le timing de la commande 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2834640"/>
            <a:ext cx="36576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807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</a:rPr>
              <a:t>Multidimensionnalité des facteurs de prix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3310128"/>
            <a:ext cx="36576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28269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</a:rPr>
              <a:t>Variabilité inter-fournisseurs &amp; conditions contractuelles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3785616"/>
            <a:ext cx="36576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75818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</a:rPr>
              <a:t>Modélisation de tendances non-linéaires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6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23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— Objectifs du Projet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3383280"/>
          </a:xfrm>
          <a:prstGeom prst="rect">
            <a:avLst/>
          </a:prstGeom>
          <a:solidFill>
            <a:srgbClr val="1452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97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AE0"/>
                </a:solidFill>
              </a:rPr>
              <a:t>Modélisation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6EAE0"/>
                </a:solidFill>
              </a:rPr>
              <a:t>Prédictive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Construire un modèle de régression précis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pour prédire le prix en MAD/unité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703320"/>
            <a:ext cx="18288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KPI : R² ≥ 0.85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41448" y="960120"/>
            <a:ext cx="2011680" cy="3383280"/>
          </a:xfrm>
          <a:prstGeom prst="rect">
            <a:avLst/>
          </a:prstGeom>
          <a:solidFill>
            <a:srgbClr val="1452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81528" y="1097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081528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32888" y="1965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AE0"/>
                </a:solidFill>
              </a:rPr>
              <a:t>Analyse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6EAE0"/>
                </a:solidFill>
              </a:rPr>
              <a:t>Fournisseurs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32888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Évaluer l'impact du choix du fournisseur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sur le prix final négocié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32888" y="3703320"/>
            <a:ext cx="18288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2532888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KPI : &gt; 20% importance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960120"/>
            <a:ext cx="2011680" cy="3383280"/>
          </a:xfrm>
          <a:prstGeom prst="rect">
            <a:avLst/>
          </a:prstGeom>
          <a:solidFill>
            <a:srgbClr val="1452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48656" y="1097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248656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0016" y="1965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AE0"/>
                </a:solidFill>
              </a:rPr>
              <a:t>Optimisation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6EAE0"/>
                </a:solidFill>
              </a:rPr>
              <a:t>du Timing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0016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Identifier les périodes optimales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d'achat sur les marchés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0016" y="3703320"/>
            <a:ext cx="18288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700016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KPI : −5 à −10% coût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75704" y="960120"/>
            <a:ext cx="2011680" cy="3383280"/>
          </a:xfrm>
          <a:prstGeom prst="rect">
            <a:avLst/>
          </a:prstGeom>
          <a:solidFill>
            <a:srgbClr val="1452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15784" y="1097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7415784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67144" y="1965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AE0"/>
                </a:solidFill>
              </a:rPr>
              <a:t>Déploiement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6EAE0"/>
                </a:solidFill>
              </a:rPr>
              <a:t>Opérationnel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67144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Tableau de bord IA intégré à l'ERP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pour les acheteurs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67144" y="3703320"/>
            <a:ext cx="18288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867144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KPI : Interface prod.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— Données &amp; Features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67512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09728" cy="667512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6" name="Shape 4"/>
          <p:cNvSpPr/>
          <p:nvPr/>
        </p:nvSpPr>
        <p:spPr>
          <a:xfrm>
            <a:off x="8275320" y="1115568"/>
            <a:ext cx="457200" cy="457200"/>
          </a:xfrm>
          <a:prstGeom prst="ellipse">
            <a:avLst/>
          </a:prstGeom>
          <a:solidFill>
            <a:srgbClr val="1B6B45"/>
          </a:solidFill>
          <a:ln/>
        </p:spPr>
      </p:sp>
      <p:sp>
        <p:nvSpPr>
          <p:cNvPr id="7" name="Text 5"/>
          <p:cNvSpPr/>
          <p:nvPr/>
        </p:nvSpPr>
        <p:spPr>
          <a:xfrm>
            <a:off x="827532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789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45"/>
                </a:solidFill>
              </a:rPr>
              <a:t>Fournisseur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533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ID, zone, délai, note qualité, contrat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8595360" cy="667512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64792"/>
            <a:ext cx="109728" cy="6675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75320" y="1874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Temporelle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1122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Mois, trimestre, lag t-1/t-3/t-6, MA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23744"/>
            <a:ext cx="8595360" cy="667512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23744"/>
            <a:ext cx="109728" cy="66751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5320" y="263347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5968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Produit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8712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Catégorie MP, norme, sous-famille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282696"/>
            <a:ext cx="8595360" cy="667512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82696"/>
            <a:ext cx="109728" cy="667512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24" name="Shape 22"/>
          <p:cNvSpPr/>
          <p:nvPr/>
        </p:nvSpPr>
        <p:spPr>
          <a:xfrm>
            <a:off x="8275320" y="3392424"/>
            <a:ext cx="457200" cy="457200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355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621"/>
                </a:solidFill>
              </a:rPr>
              <a:t>Marché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6301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Indice LME, prix spot, taux change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8595360" cy="667512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041648"/>
            <a:ext cx="109728" cy="66751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4151376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Volume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3891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Quantité, volume annuel, remises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0" y="4663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1B6B45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: 50 features  |  Variable cible : Prix (MAD/unité)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 — Méthodologie &amp; Modèles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600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1600200" cy="41148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ÉTAPE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45"/>
                </a:solidFill>
              </a:rPr>
              <a:t>Collecte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ERP + LME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+ Fournisseurs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+ Macro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1005840"/>
            <a:ext cx="1600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1005840"/>
            <a:ext cx="1600200" cy="41148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ÉTAPE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084832" y="1508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45"/>
                </a:solidFill>
              </a:rPr>
              <a:t>Préparation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84832" y="196596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Imputation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Normalisation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Encoding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58184" y="1005840"/>
            <a:ext cx="1600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58184" y="1005840"/>
            <a:ext cx="1600200" cy="41148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16" name="Text 14"/>
          <p:cNvSpPr/>
          <p:nvPr/>
        </p:nvSpPr>
        <p:spPr>
          <a:xfrm>
            <a:off x="3758184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ÉTAPE 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9624" y="1508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45"/>
                </a:solidFill>
              </a:rPr>
              <a:t>Feature Eng.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9624" y="196596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Lag 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Moyennes mobiles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Saisonnalité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22976" y="1005840"/>
            <a:ext cx="1600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22976" y="1005840"/>
            <a:ext cx="1600200" cy="41148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21" name="Text 19"/>
          <p:cNvSpPr/>
          <p:nvPr/>
        </p:nvSpPr>
        <p:spPr>
          <a:xfrm>
            <a:off x="5522976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ÉTAPE 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14416" y="1508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45"/>
                </a:solidFill>
              </a:rPr>
              <a:t>Modélisation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14416" y="196596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Ridge / RF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XGBoost / MLP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87768" y="1005840"/>
            <a:ext cx="1600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87768" y="1005840"/>
            <a:ext cx="1600200" cy="41148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26" name="Text 24"/>
          <p:cNvSpPr/>
          <p:nvPr/>
        </p:nvSpPr>
        <p:spPr>
          <a:xfrm>
            <a:off x="7287768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ÉTAPE 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79208" y="1508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45"/>
                </a:solidFill>
              </a:rPr>
              <a:t>Évaluation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79208" y="196596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CV temporelle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RMSE / R²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45"/>
                </a:solidFill>
              </a:rPr>
              <a:t>Modèles évalués 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0" y="37490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0" y="374904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Ridge Lasso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(Baseline)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977640" y="37490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2E8B57"/>
          </a:solidFill>
          <a:ln/>
        </p:spPr>
      </p:sp>
      <p:sp>
        <p:nvSpPr>
          <p:cNvPr id="33" name="Text 31"/>
          <p:cNvSpPr/>
          <p:nvPr/>
        </p:nvSpPr>
        <p:spPr>
          <a:xfrm>
            <a:off x="3977640" y="374904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Random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Forest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(Ensemble)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0" y="37490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1B6B45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0" y="374904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XGBoost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(★ Meilleur)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60920" y="37490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7360920" y="374904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MLP Neural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Network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(Deep Learning)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 — Résultats &amp; Performances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965960" cy="73152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6B45"/>
                </a:solidFill>
              </a:rPr>
              <a:t>0.921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R² — XGBoost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88366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Variance expliquée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23160" y="914400"/>
            <a:ext cx="196596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914400"/>
            <a:ext cx="19659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72.8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16276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RMSE (MAD)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14600" y="188366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Erreur quadratique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196596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914400"/>
            <a:ext cx="1965960" cy="7315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57"/>
                </a:solidFill>
              </a:rPr>
              <a:t>49.6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16276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MAE (MAD)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188366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Erreur absolue moy.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20840" y="914400"/>
            <a:ext cx="196596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914400"/>
            <a:ext cx="1965960" cy="73152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5621"/>
                </a:solidFill>
              </a:rPr>
              <a:t>4.2%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12280" y="16276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MAPE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12280" y="188366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Erreur relative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14600"/>
          <a:ext cx="8595360" cy="173736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1463040"/>
                <a:gridCol w="1280160"/>
                <a:gridCol w="1463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Régression Ridge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142.5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98.3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0.763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8.4%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Random Forest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87.2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61.4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0.891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5.1%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B45"/>
                          </a:solidFill>
                        </a:rPr>
                        <a:t>XGBoost ★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B45"/>
                          </a:solidFill>
                        </a:rPr>
                        <a:t>72.8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B45"/>
                          </a:solidFill>
                        </a:rPr>
                        <a:t>49.6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B45"/>
                          </a:solidFill>
                        </a:rPr>
                        <a:t>0.921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B45"/>
                          </a:solidFill>
                        </a:rPr>
                        <a:t>4.2%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MLP Neural Net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79.3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55.1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0.908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E1E"/>
                          </a:solidFill>
                        </a:rPr>
                        <a:t>4.7%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 — Variables les Plus Influentes (SHAP)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9669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Indice LME / Prix spot international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566160" y="1051560"/>
            <a:ext cx="5943600" cy="2743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" name="Shape 4"/>
          <p:cNvSpPr/>
          <p:nvPr/>
        </p:nvSpPr>
        <p:spPr>
          <a:xfrm>
            <a:off x="3566160" y="1051560"/>
            <a:ext cx="5626608" cy="27432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7" name="Text 5"/>
          <p:cNvSpPr/>
          <p:nvPr/>
        </p:nvSpPr>
        <p:spPr>
          <a:xfrm>
            <a:off x="9284208" y="1033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6B45"/>
                </a:solidFill>
              </a:rPr>
              <a:t>28.4%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51790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Fournisseur (effet contractuel)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66160" y="1572768"/>
            <a:ext cx="5943600" cy="2743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572768"/>
            <a:ext cx="4299204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956804" y="1554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21.7%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0391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Taux de change MAD/EUR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66160" y="2093976"/>
            <a:ext cx="5943600" cy="2743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2093976"/>
            <a:ext cx="3011424" cy="2743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6669024" y="2075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</a:rPr>
              <a:t>15.2%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560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Volume commandé (remise)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66160" y="2615184"/>
            <a:ext cx="5943600" cy="2743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2615184"/>
            <a:ext cx="2397252" cy="27432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9" name="Text 17"/>
          <p:cNvSpPr/>
          <p:nvPr/>
        </p:nvSpPr>
        <p:spPr>
          <a:xfrm>
            <a:off x="6054852" y="259689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621"/>
                </a:solidFill>
              </a:rPr>
              <a:t>12.1%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30815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Lag prix t-3 mois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66160" y="3136392"/>
            <a:ext cx="5943600" cy="2743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3136392"/>
            <a:ext cx="1941576" cy="2743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3" name="Text 21"/>
          <p:cNvSpPr/>
          <p:nvPr/>
        </p:nvSpPr>
        <p:spPr>
          <a:xfrm>
            <a:off x="5599176" y="31181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28D9"/>
                </a:solidFill>
              </a:rPr>
              <a:t>9.8%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360273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Trimestre (saisonnalité)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66160" y="3657600"/>
            <a:ext cx="5943600" cy="2743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66160" y="3657600"/>
            <a:ext cx="1446276" cy="2743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7" name="Text 25"/>
          <p:cNvSpPr/>
          <p:nvPr/>
        </p:nvSpPr>
        <p:spPr>
          <a:xfrm>
            <a:off x="5103876" y="36393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</a:rPr>
              <a:t>7.3%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1239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Délai de livraison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66160" y="4178808"/>
            <a:ext cx="5943600" cy="2743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0" name="Shape 28"/>
          <p:cNvSpPr/>
          <p:nvPr/>
        </p:nvSpPr>
        <p:spPr>
          <a:xfrm>
            <a:off x="3566160" y="4178808"/>
            <a:ext cx="614172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4271772" y="4160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3.1%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64515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Autres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66160" y="4700016"/>
            <a:ext cx="5943600" cy="2743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4" name="Shape 32"/>
          <p:cNvSpPr/>
          <p:nvPr/>
        </p:nvSpPr>
        <p:spPr>
          <a:xfrm>
            <a:off x="3566160" y="4700016"/>
            <a:ext cx="475488" cy="27432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35" name="Text 33"/>
          <p:cNvSpPr/>
          <p:nvPr/>
        </p:nvSpPr>
        <p:spPr>
          <a:xfrm>
            <a:off x="4133088" y="46817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</a:rPr>
              <a:t>2.4%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6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23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07 — Recommandations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097280"/>
          </a:xfrm>
          <a:prstGeom prst="rect">
            <a:avLst/>
          </a:prstGeom>
          <a:solidFill>
            <a:srgbClr val="1452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4864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AE0"/>
                </a:solidFill>
              </a:rPr>
              <a:t>Déploiement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990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Intégrer XGBoost via une API REST accessible depuis l'ERP achats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114800" cy="1097280"/>
          </a:xfrm>
          <a:prstGeom prst="rect">
            <a:avLst/>
          </a:prstGeom>
          <a:solidFill>
            <a:srgbClr val="1452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0280"/>
            <a:ext cx="548640" cy="10972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24028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AE0"/>
                </a:solidFill>
              </a:rPr>
              <a:t>Réentraînement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67919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Pipeline de réentraînement mensuel face aux dérives de marché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4114800" cy="1097280"/>
          </a:xfrm>
          <a:prstGeom prst="rect">
            <a:avLst/>
          </a:prstGeom>
          <a:solidFill>
            <a:srgbClr val="1452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20440"/>
            <a:ext cx="548640" cy="109728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5204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AE0"/>
                </a:solidFill>
              </a:rPr>
              <a:t>Monitoring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9593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Tableau de bord de suivi des dérives et alertes de performance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4114800" cy="1097280"/>
          </a:xfrm>
          <a:prstGeom prst="rect">
            <a:avLst/>
          </a:prstGeom>
          <a:solidFill>
            <a:srgbClr val="1452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60120"/>
            <a:ext cx="548640" cy="10972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9601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AE0"/>
                </a:solidFill>
              </a:rPr>
              <a:t>Formation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13990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Former les équipes à l'interprétation des prédictions et SHAP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240280"/>
            <a:ext cx="4114800" cy="1097280"/>
          </a:xfrm>
          <a:prstGeom prst="rect">
            <a:avLst/>
          </a:prstGeom>
          <a:solidFill>
            <a:srgbClr val="1452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240280"/>
            <a:ext cx="548640" cy="10972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24028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AE0"/>
                </a:solidFill>
              </a:rPr>
              <a:t>Extension Phase 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267919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Étendre aux achats indirects, services et autres devises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6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5236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20040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08 — CONCLUSION &amp; PERSPECTIVES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Ce projet confirme la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valeur du Machine Learning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pour l'optimisation des achats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331720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2860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E0"/>
                </a:solidFill>
              </a:rPr>
              <a:t>XGBoost atteint R² = 0.921 — plus de 92% de variance expliquée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807208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76148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E0"/>
                </a:solidFill>
              </a:rPr>
              <a:t>Économies potentielles de 8-15% par optimisation fournisseur &amp; timing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236976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E0"/>
                </a:solidFill>
              </a:rPr>
              <a:t>Les indices de marché, fournisseur et taux de change sont les facteurs clés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Perspectives : Données NLP de marché • Modèles multi-horizons • Extension achats indirects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du Prix d'Achat Optimal des Matières Premières</dc:title>
  <dc:subject>PptxGenJS Presentation</dc:subject>
  <dc:creator>PptxGenJS</dc:creator>
  <cp:lastModifiedBy>PptxGenJS</cp:lastModifiedBy>
  <cp:revision>1</cp:revision>
  <dcterms:created xsi:type="dcterms:W3CDTF">2026-03-26T11:31:56Z</dcterms:created>
  <dcterms:modified xsi:type="dcterms:W3CDTF">2026-03-26T11:31:56Z</dcterms:modified>
</cp:coreProperties>
</file>